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3AA7"/>
                </a:solidFill>
                <a:latin typeface="Segoe UI"/>
              </a:rPr>
              <a:t>DELVE · RESEARCH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Segoe UI"/>
              </a:rPr>
              <a:t>Why Turn Architecture Decisions Into a Design Space?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Architectural knowledge is tacit and scattered across one-off decisions — every project re-derives the same rationale from scratch, with no explicit map of the alternatives that exist for a domain.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32461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53288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0B0B0B"/>
                </a:solidFill>
                <a:latin typeface="Segoe UI"/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A corpus of architecture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9352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 i="0">
                <a:solidFill>
                  <a:srgbClr val="52514E"/>
                </a:solidFill>
                <a:latin typeface="Segoe UI"/>
              </a:rPr>
              <a:t>ADRs, design rationale, use-case description — free text, one decision at a time, no shared structure across projects.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49040" y="3589020.0"/>
            <a:ext cx="502920" cy="0.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251960" y="2221992"/>
            <a:ext cx="2880360" cy="2734056"/>
          </a:xfrm>
          <a:prstGeom prst="ellipse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642616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0B0B0B"/>
                </a:solidFill>
                <a:latin typeface="Segoe UI"/>
              </a:rPr>
              <a:t>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461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DELVE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648456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 i="0">
                <a:solidFill>
                  <a:srgbClr val="FFFFFF"/>
                </a:solidFill>
                <a:latin typeface="Segoe UI"/>
              </a:rPr>
              <a:t>Grounded-theory pipeline: LLM-assisted open + axial coding, saturation-checked and reviewed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0" y="3589020.0"/>
            <a:ext cx="502920" cy="0.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35240" y="2331720"/>
            <a:ext cx="4050792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532888"/>
            <a:ext cx="4050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0B0B0B"/>
                </a:solidFill>
                <a:latin typeface="Segoe UI"/>
              </a:rP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246120"/>
            <a:ext cx="35935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483864"/>
            <a:ext cx="3593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An explicit design 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867912"/>
            <a:ext cx="3593592" cy="329184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3867912"/>
            <a:ext cx="3593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008300"/>
                </a:solidFill>
                <a:latin typeface="Segoe UI"/>
              </a:rPr>
              <a:t>✓  Available now — dimensions × values × relations + grounded theory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306824"/>
            <a:ext cx="3593592" cy="329184"/>
          </a:xfrm>
          <a:prstGeom prst="roundRect">
            <a:avLst>
              <a:gd name="adj" fmla="val 50000"/>
            </a:avLst>
          </a:prstGeom>
          <a:solidFill>
            <a:srgbClr val="FCFCFB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306824"/>
            <a:ext cx="3593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1">
                <a:solidFill>
                  <a:srgbClr val="52514E"/>
                </a:solidFill>
                <a:latin typeface="Segoe UI"/>
              </a:rPr>
              <a:t>→  Planned — quality scores and sampled candidate solutions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212080"/>
            <a:ext cx="11183112" cy="566928"/>
          </a:xfrm>
          <a:prstGeom prst="roundRect">
            <a:avLst>
              <a:gd name="adj" fmla="val 22000"/>
            </a:avLst>
          </a:prstGeom>
          <a:solidFill>
            <a:srgbClr val="EFECFB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106344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4A3AA7"/>
                </a:solidFill>
                <a:latin typeface="Segoe UI"/>
              </a:rPr>
              <a:t>One-off, tacit decisions  →  an explicit, comparable map of alternatives — reusable across projects in the same domain, and a substrate for the analysis on the following slides.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98781"/>
                </a:solidFill>
                <a:latin typeface="Segoe UI"/>
              </a:rPr>
              <a:t>Framing: Shaw, “The Role of Design Spaces,” IEEE Software, Jan/Feb 2012 · Delve pipeline (openwiki/pipeline) · docs/NEW_IDEAS.md for planned scoring/sampling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3AA7"/>
                </a:solidFill>
                <a:latin typeface="Segoe UI"/>
              </a:rPr>
              <a:t>DELVE · RESEARCH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Segoe UI"/>
              </a:rPr>
              <a:t>From Architecture Decisions to a Design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Delve runs a grounded-theory, TnT-LLM-style pipeline over architecture decisions, then reframes the result as a Design Space (Shaw, IEEE Software 2012): orthogonal dimensions, alternative values, and dependencies between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1481328" cy="960120"/>
          </a:xfrm>
          <a:prstGeom prst="roundRect">
            <a:avLst>
              <a:gd name="adj" fmla="val 14000"/>
            </a:avLst>
          </a:prstGeom>
          <a:solidFill>
            <a:srgbClr val="52514E"/>
          </a:solidFill>
          <a:ln w="1587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29968"/>
            <a:ext cx="1353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Architecture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340864"/>
            <a:ext cx="133502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corpus of ADRs / design rationale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84248" y="2418588.0"/>
            <a:ext cx="457200" cy="0.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41448" y="1938528"/>
            <a:ext cx="1481328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5456" y="2029968"/>
            <a:ext cx="1353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A78D6"/>
                </a:solidFill>
                <a:latin typeface="Segoe UI"/>
              </a:rPr>
              <a:t>Open 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340864"/>
            <a:ext cx="133502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per-decision concept extraction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22776" y="2418588.0"/>
            <a:ext cx="457200" cy="0.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9976" y="1938528"/>
            <a:ext cx="1481328" cy="960120"/>
          </a:xfrm>
          <a:prstGeom prst="roundRect">
            <a:avLst>
              <a:gd name="adj" fmla="val 14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2029968"/>
            <a:ext cx="1353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Axial 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340864"/>
            <a:ext cx="133502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Segoe UI"/>
              </a:rPr>
              <a:t>draft dimensions, values,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Segoe UI"/>
              </a:rPr>
              <a:t>typed relations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61304" y="2418588.0"/>
            <a:ext cx="457200" cy="0.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18504" y="1938528"/>
            <a:ext cx="1481328" cy="960120"/>
          </a:xfrm>
          <a:prstGeom prst="roundRect">
            <a:avLst>
              <a:gd name="adj" fmla="val 14000"/>
            </a:avLst>
          </a:prstGeom>
          <a:solidFill>
            <a:srgbClr val="EB6834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029968"/>
            <a:ext cx="1353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Saturation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340864"/>
            <a:ext cx="133502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Segoe UI"/>
              </a:rPr>
              <a:t>loop until new decisions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Segoe UI"/>
              </a:rPr>
              <a:t>are covered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99832" y="2418588.0"/>
            <a:ext cx="457200" cy="0.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57032" y="1938528"/>
            <a:ext cx="1481328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84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029968"/>
            <a:ext cx="1353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4F95"/>
                </a:solidFill>
                <a:latin typeface="Segoe UI"/>
              </a:rPr>
              <a:t>Review +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4F95"/>
                </a:solidFill>
                <a:latin typeface="Segoe UI"/>
              </a:rPr>
              <a:t>consolidation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340864"/>
            <a:ext cx="133502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sampled QA; merge near-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duplicate values (embeddings)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38360" y="2418588.0"/>
            <a:ext cx="457200" cy="0.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195560" y="1938528"/>
            <a:ext cx="1481328" cy="960120"/>
          </a:xfrm>
          <a:prstGeom prst="roundRect">
            <a:avLst>
              <a:gd name="adj" fmla="val 14000"/>
            </a:avLst>
          </a:prstGeom>
          <a:solidFill>
            <a:srgbClr val="4A3AA7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59568" y="2029968"/>
            <a:ext cx="1353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Dimension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8712" y="2340864"/>
            <a:ext cx="133502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Segoe UI"/>
              </a:rPr>
              <a:t>keep axes relevant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Segoe UI"/>
              </a:rPr>
              <a:t>to the use case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455664" y="1627632"/>
            <a:ext cx="0" cy="310896"/>
          </a:xfrm>
          <a:prstGeom prst="bentConnector3">
            <a:avLst/>
          </a:prstGeom>
          <a:ln w="19050">
            <a:solidFill>
              <a:srgbClr val="EB683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724144" y="1627632"/>
            <a:ext cx="731520" cy="0"/>
          </a:xfrm>
          <a:prstGeom prst="bentConnector3">
            <a:avLst/>
          </a:prstGeom>
          <a:ln w="19050">
            <a:solidFill>
              <a:srgbClr val="EB683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724144" y="1627632"/>
            <a:ext cx="0" cy="310896"/>
          </a:xfrm>
          <a:prstGeom prst="bentConnector3">
            <a:avLst/>
          </a:prstGeom>
          <a:ln w="19050">
            <a:solidFill>
              <a:srgbClr val="EB683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58384" y="1389888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EB6834"/>
                </a:solidFill>
                <a:latin typeface="Segoe UI"/>
              </a:rPr>
              <a:t>iterate per minibatch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118104"/>
            <a:ext cx="6903720" cy="457200"/>
          </a:xfrm>
          <a:prstGeom prst="roundRect">
            <a:avLst>
              <a:gd name="adj" fmla="val 18000"/>
            </a:avLst>
          </a:prstGeom>
          <a:solidFill>
            <a:srgbClr val="4A3AA7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118104"/>
            <a:ext cx="6629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Design Space — Dimensions × Values × Relations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71232" y="3118104"/>
            <a:ext cx="4114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8392" y="3118104"/>
            <a:ext cx="3886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4A3AA7"/>
                </a:solidFill>
                <a:latin typeface="Segoe UI"/>
              </a:rPr>
              <a:t>+ Grounded Theory Report (.md + Mermaid)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813048"/>
            <a:ext cx="359359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502920" y="3813048"/>
            <a:ext cx="3593592" cy="548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" y="3941064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Segoe UI"/>
              </a:rPr>
              <a:t>DIMENSION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" y="4233672"/>
            <a:ext cx="330098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2514E"/>
                </a:solidFill>
                <a:latin typeface="Segoe UI"/>
              </a:rPr>
              <a:t>Delve schema: Cluster</a:t>
            </a:r>
          </a:p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2514E"/>
                </a:solidFill>
                <a:latin typeface="Segoe UI"/>
              </a:rPr>
              <a:t>An orthogonal axis of architectural variation — e.g. “Authentication mechanism” or “Service decomposition strategy.” Shaw: one of the decisions to be made about the artifact.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3813048"/>
            <a:ext cx="359359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4297680" y="3813048"/>
            <a:ext cx="3593592" cy="548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43984" y="3941064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AF7A"/>
                </a:solidFill>
                <a:latin typeface="Segoe UI"/>
              </a:rPr>
              <a:t>VALUE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3984" y="4233672"/>
            <a:ext cx="330098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2514E"/>
                </a:solidFill>
                <a:latin typeface="Segoe UI"/>
              </a:rPr>
              <a:t>Delve schema: Value</a:t>
            </a:r>
          </a:p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2514E"/>
                </a:solidFill>
                <a:latin typeface="Segoe UI"/>
              </a:rPr>
              <a:t>A concrete alternative on that axis, consolidated from near-duplicate LLM drafts by embedding distance. Shaw: an alternative choice — a point on the dimension.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3813048"/>
            <a:ext cx="359359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8092440" y="3813048"/>
            <a:ext cx="3593592" cy="548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38744" y="3941064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34948"/>
                </a:solidFill>
                <a:latin typeface="Segoe UI"/>
              </a:rPr>
              <a:t>RELATION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8744" y="4233672"/>
            <a:ext cx="330098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2514E"/>
                </a:solidFill>
                <a:latin typeface="Segoe UI"/>
              </a:rPr>
              <a:t>Delve schema: Relation</a:t>
            </a:r>
          </a:p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2514E"/>
                </a:solidFill>
                <a:latin typeface="Segoe UI"/>
              </a:rPr>
              <a:t>A typed dependency between two dimensions — precondition, consequence, constrains, or co-occurring. Shaw: “dimensions aren’t independent.”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376672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52514E"/>
                </a:solidFill>
                <a:latin typeface="Segoe UI"/>
              </a:rPr>
              <a:t>Every run also writes a Grounded Theory Report: a narrative summary, a Mermaid dimension-relationship diagram, and a full dimension → value → relation catalog — the same artifact shown for each example on the following slides.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98781"/>
                </a:solidFill>
                <a:latin typeface="Segoe UI"/>
              </a:rPr>
              <a:t>Sources: openwiki/pipeline/{graph,taxonomy,classification}.md, docs/TAXONOMY_QUALITY_PLAN.md, examples/*/*_report_*.md  ·  Shaw, “The Role of Design Spaces,” IEEE Software, Jan/Feb 2012.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3AA7"/>
                </a:solidFill>
                <a:latin typeface="Segoe UI"/>
              </a:rPr>
              <a:t>DELVE · RESEARCH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Segoe UI"/>
              </a:rPr>
              <a:t>A Design Space Mined for CityBike’s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4 of 7 orthogonal dimensions Delve extracted from 26 architecture decisions for a bike-sharing platform. Each bar is a dimension; chips are its consolidated values; arrows are typed dependencies between dimensions.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600200"/>
            <a:ext cx="2331720" cy="786384"/>
          </a:xfrm>
          <a:prstGeom prst="roundRect">
            <a:avLst>
              <a:gd name="adj" fmla="val 14000"/>
            </a:avLst>
          </a:prstGeom>
          <a:solidFill>
            <a:srgbClr val="2A78D6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600200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Registration Data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&amp; Input Controls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76472" y="1993392.0"/>
            <a:ext cx="3918204.0" cy="0.0"/>
          </a:xfrm>
          <a:prstGeom prst="line">
            <a:avLst/>
          </a:prstGeom>
          <a:ln w="1905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63156" y="1728216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6" y="1728216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Validated personal-data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registration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478024"/>
            <a:ext cx="2331720" cy="786384"/>
          </a:xfrm>
          <a:prstGeom prst="roundRect">
            <a:avLst>
              <a:gd name="adj" fmla="val 14000"/>
            </a:avLst>
          </a:prstGeom>
          <a:solidFill>
            <a:srgbClr val="EB6834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6192" y="2478024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Authentication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Mechanism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76472" y="2871216.0"/>
            <a:ext cx="7836408" cy="0.0"/>
          </a:xfrm>
          <a:prstGeom prst="line">
            <a:avLst/>
          </a:prstGeom>
          <a:ln w="1905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76472" y="2606040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2" y="2606040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Biometric thumbprint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login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3156" y="2606040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8876" y="2606040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Ephemeral verification-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code auth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2606040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2606040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Email + password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auth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3355848"/>
            <a:ext cx="2331720" cy="786384"/>
          </a:xfrm>
          <a:prstGeom prst="roundRect">
            <a:avLst>
              <a:gd name="adj" fmla="val 14000"/>
            </a:avLst>
          </a:prstGeom>
          <a:solidFill>
            <a:srgbClr val="1BAF7A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36192" y="3355848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Credential &amp; Session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Lifecycle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76472" y="3749040.0"/>
            <a:ext cx="7836408" cy="0.0"/>
          </a:xfrm>
          <a:prstGeom prst="line">
            <a:avLst/>
          </a:prstGeom>
          <a:ln w="1905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76472" y="3483864"/>
            <a:ext cx="137160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22192" y="3483864"/>
            <a:ext cx="1280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30-min code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expiration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2674" y="3483864"/>
            <a:ext cx="137160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8394" y="3483864"/>
            <a:ext cx="1280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Inactivity session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timeout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08876" y="3483864"/>
            <a:ext cx="137160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4596" y="3483864"/>
            <a:ext cx="1280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Manual logout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25078" y="3483864"/>
            <a:ext cx="137160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70798" y="3483864"/>
            <a:ext cx="1280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Short-lived code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timeout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0" y="3483864"/>
            <a:ext cx="137160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3483864"/>
            <a:ext cx="1280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Rental-duration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4233672"/>
            <a:ext cx="2331720" cy="786384"/>
          </a:xfrm>
          <a:prstGeom prst="roundRect">
            <a:avLst>
              <a:gd name="adj" fmla="val 14000"/>
            </a:avLst>
          </a:prstGeom>
          <a:solidFill>
            <a:srgbClr val="EDA100"/>
          </a:solidFill>
          <a:ln w="12700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36192" y="4233672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Sensitive Data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Protection &amp; Retention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76472" y="4626864.0"/>
            <a:ext cx="7836408" cy="0.0"/>
          </a:xfrm>
          <a:prstGeom prst="line">
            <a:avLst/>
          </a:prstGeom>
          <a:ln w="1905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776472" y="4361688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22192" y="4361688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Immediate biometric-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data deletion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49840" y="4361688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5560" y="4361688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End-to-end data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encryption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85800" y="1993392.0"/>
            <a:ext cx="685800" cy="0.0"/>
          </a:xfrm>
          <a:prstGeom prst="bentConnector3">
            <a:avLst/>
          </a:prstGeom>
          <a:ln w="19050">
            <a:solidFill>
              <a:srgbClr val="184F9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5800" y="1993392.0"/>
            <a:ext cx="0" cy="877824.0"/>
          </a:xfrm>
          <a:prstGeom prst="bentConnector3">
            <a:avLst/>
          </a:prstGeom>
          <a:ln w="19050">
            <a:solidFill>
              <a:srgbClr val="184F9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85800" y="2871216.0"/>
            <a:ext cx="685800" cy="0.0"/>
          </a:xfrm>
          <a:prstGeom prst="bentConnector3">
            <a:avLst/>
          </a:prstGeom>
          <a:ln w="19050">
            <a:solidFill>
              <a:srgbClr val="184F9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21208" y="2267712"/>
            <a:ext cx="813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710" b="1" i="0">
                <a:solidFill>
                  <a:srgbClr val="184F95"/>
                </a:solidFill>
                <a:latin typeface="Segoe UI"/>
              </a:rPr>
              <a:t>precondition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914400" y="2871216.0"/>
            <a:ext cx="457200" cy="0.0"/>
          </a:xfrm>
          <a:prstGeom prst="bentConnector3">
            <a:avLst/>
          </a:prstGeom>
          <a:ln w="19050">
            <a:solidFill>
              <a:srgbClr val="E34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14400" y="2871216.0"/>
            <a:ext cx="0" cy="877824.0"/>
          </a:xfrm>
          <a:prstGeom prst="bentConnector3">
            <a:avLst/>
          </a:prstGeom>
          <a:ln w="19050">
            <a:solidFill>
              <a:srgbClr val="E34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14400" y="3749040.0"/>
            <a:ext cx="457200" cy="0.0"/>
          </a:xfrm>
          <a:prstGeom prst="bentConnector3">
            <a:avLst/>
          </a:prstGeom>
          <a:ln w="19050">
            <a:solidFill>
              <a:srgbClr val="E3494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1208" y="3145536"/>
            <a:ext cx="813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710" b="1" i="0">
                <a:solidFill>
                  <a:srgbClr val="E34948"/>
                </a:solidFill>
                <a:latin typeface="Segoe UI"/>
              </a:rPr>
              <a:t>constrains /</a:t>
            </a:r>
          </a:p>
          <a:p>
            <a:pPr algn="l">
              <a:lnSpc>
                <a:spcPct val="90000"/>
              </a:lnSpc>
            </a:pPr>
            <a:r>
              <a:rPr sz="710" b="1" i="0">
                <a:solidFill>
                  <a:srgbClr val="E34948"/>
                </a:solidFill>
                <a:latin typeface="Segoe UI"/>
              </a:rPr>
              <a:t>co-occurring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143000" y="4626864.0"/>
            <a:ext cx="228600" cy="0.0"/>
          </a:xfrm>
          <a:prstGeom prst="bentConnector3">
            <a:avLst/>
          </a:prstGeom>
          <a:ln w="19050">
            <a:solidFill>
              <a:srgbClr val="E34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43000" y="2871216.0"/>
            <a:ext cx="0" cy="1755648.0"/>
          </a:xfrm>
          <a:prstGeom prst="bentConnector3">
            <a:avLst/>
          </a:prstGeom>
          <a:ln w="19050">
            <a:solidFill>
              <a:srgbClr val="E34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43000" y="2871216.0"/>
            <a:ext cx="228600" cy="0.0"/>
          </a:xfrm>
          <a:prstGeom prst="bentConnector3">
            <a:avLst/>
          </a:prstGeom>
          <a:ln w="19050">
            <a:solidFill>
              <a:srgbClr val="E3494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21208" y="3584448"/>
            <a:ext cx="813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710" b="1" i="0">
                <a:solidFill>
                  <a:srgbClr val="E34948"/>
                </a:solidFill>
                <a:latin typeface="Segoe UI"/>
              </a:rPr>
              <a:t>constrains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184648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184648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2514E"/>
                </a:solidFill>
                <a:latin typeface="Segoe UI"/>
              </a:rPr>
              <a:t>26 decisions  →  7 dimensions  →  24 consolidated values  →  6 typed relations — checked for orthogonality, saturation, and use-case relevance before labeling documents.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769864"/>
            <a:ext cx="11183112" cy="347472"/>
          </a:xfrm>
          <a:prstGeom prst="roundRect">
            <a:avLst>
              <a:gd name="adj" fmla="val 50000"/>
            </a:avLst>
          </a:prstGeom>
          <a:solidFill>
            <a:srgbClr val="EFECFB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769864"/>
            <a:ext cx="108722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4A3AA7"/>
                </a:solidFill>
                <a:latin typeface="Segoe UI"/>
              </a:rPr>
              <a:t>✓  Grounded Theory Report generated — campus-bike_report_20260817_110113.md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98781"/>
                </a:solidFill>
                <a:latin typeface="Segoe UI"/>
              </a:rPr>
              <a:t>Source: examples/campus-bike (config, taxonomy JSON, grounded theory report) · use_case = CityBike bike-sharing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3AA7"/>
                </a:solidFill>
                <a:latin typeface="Segoe UI"/>
              </a:rPr>
              <a:t>DELVE · RESEARCH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Segoe UI"/>
              </a:rPr>
              <a:t>A Design Space Mined for PharmacyFood’s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4 of 8 orthogonal dimensions Delve extracted from architecture decisions for a multi-vendor, “ghost kitchen” healthy-food marketplace. Same schema, a different domain and use 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600200"/>
            <a:ext cx="2331720" cy="786384"/>
          </a:xfrm>
          <a:prstGeom prst="roundRect">
            <a:avLst>
              <a:gd name="adj" fmla="val 14000"/>
            </a:avLst>
          </a:prstGeom>
          <a:solidFill>
            <a:srgbClr val="4A3AA7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600200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Credential Security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Controls for Auth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76472" y="1993392.0"/>
            <a:ext cx="7836408" cy="0.0"/>
          </a:xfrm>
          <a:prstGeom prst="line">
            <a:avLst/>
          </a:prstGeom>
          <a:ln w="1905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76472" y="1728216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728216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Encrypted credential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1728216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1728216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Strict access control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for secrets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478024"/>
            <a:ext cx="2331720" cy="786384"/>
          </a:xfrm>
          <a:prstGeom prst="roundRect">
            <a:avLst>
              <a:gd name="adj" fmla="val 14000"/>
            </a:avLst>
          </a:prstGeom>
          <a:solidFill>
            <a:srgbClr val="1BAF7A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2478024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Account Verification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Workflow Design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76472" y="2871216.0"/>
            <a:ext cx="7836408" cy="0.0"/>
          </a:xfrm>
          <a:prstGeom prst="line">
            <a:avLst/>
          </a:prstGeom>
          <a:ln w="1905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76472" y="2606040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2" y="2606040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Standard credential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authentication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3156" y="2606040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8876" y="2606040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Client + server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registration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606040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606040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Post-signup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confirmation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3355848"/>
            <a:ext cx="2331720" cy="786384"/>
          </a:xfrm>
          <a:prstGeom prst="roundRect">
            <a:avLst>
              <a:gd name="adj" fmla="val 14000"/>
            </a:avLst>
          </a:prstGeom>
          <a:solidFill>
            <a:srgbClr val="2A78D6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36192" y="3355848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Data Access Abstraction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via Repository Pattern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76472" y="3749040.0"/>
            <a:ext cx="7836408" cy="0.0"/>
          </a:xfrm>
          <a:prstGeom prst="line">
            <a:avLst/>
          </a:prstGeom>
          <a:ln w="1905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776472" y="3483864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2192" y="3483864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Repository for orders,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promotions, subscriptions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3483864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3483864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Repository for profiles,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orders, meals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4233672"/>
            <a:ext cx="2331720" cy="786384"/>
          </a:xfrm>
          <a:prstGeom prst="roundRect">
            <a:avLst>
              <a:gd name="adj" fmla="val 14000"/>
            </a:avLst>
          </a:prstGeom>
          <a:solidFill>
            <a:srgbClr val="EB6834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36192" y="4233672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Catalog Search via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Specification Pattern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776472" y="4626864.0"/>
            <a:ext cx="7836408" cy="0.0"/>
          </a:xfrm>
          <a:prstGeom prst="line">
            <a:avLst/>
          </a:prstGeom>
          <a:ln w="1905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776472" y="4361688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22192" y="4361688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Availability + dietary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filters as specifications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40" y="4361688"/>
            <a:ext cx="1463040" cy="5303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4361688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Vendor-agnostic specs for</a:t>
            </a:r>
          </a:p>
          <a:p>
            <a:pPr algn="ctr">
              <a:lnSpc>
                <a:spcPct val="92000"/>
              </a:lnSpc>
            </a:pPr>
            <a:r>
              <a:rPr sz="800" b="0" i="0">
                <a:solidFill>
                  <a:srgbClr val="52514E"/>
                </a:solidFill>
                <a:latin typeface="Segoe UI"/>
              </a:rPr>
              <a:t>multi-vendor catalogs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85800" y="1993392.0"/>
            <a:ext cx="685800" cy="0.0"/>
          </a:xfrm>
          <a:prstGeom prst="bentConnector3">
            <a:avLst/>
          </a:prstGeom>
          <a:ln w="19050">
            <a:solidFill>
              <a:srgbClr val="184F9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5800" y="1993392.0"/>
            <a:ext cx="0" cy="877824.0"/>
          </a:xfrm>
          <a:prstGeom prst="bentConnector3">
            <a:avLst/>
          </a:prstGeom>
          <a:ln w="19050">
            <a:solidFill>
              <a:srgbClr val="184F9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85800" y="2871216.0"/>
            <a:ext cx="685800" cy="0.0"/>
          </a:xfrm>
          <a:prstGeom prst="bentConnector3">
            <a:avLst/>
          </a:prstGeom>
          <a:ln w="19050">
            <a:solidFill>
              <a:srgbClr val="184F9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1208" y="2267712"/>
            <a:ext cx="813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710" b="1" i="0">
                <a:solidFill>
                  <a:srgbClr val="184F95"/>
                </a:solidFill>
                <a:latin typeface="Segoe UI"/>
              </a:rPr>
              <a:t>precondition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914400" y="3749040.0"/>
            <a:ext cx="457200" cy="0.0"/>
          </a:xfrm>
          <a:prstGeom prst="bentConnector3">
            <a:avLst/>
          </a:prstGeom>
          <a:ln w="19050">
            <a:solidFill>
              <a:srgbClr val="E34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4400" y="3749040.0"/>
            <a:ext cx="0" cy="877824.0"/>
          </a:xfrm>
          <a:prstGeom prst="bentConnector3">
            <a:avLst/>
          </a:prstGeom>
          <a:ln w="19050">
            <a:solidFill>
              <a:srgbClr val="E34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14400" y="4626864.0"/>
            <a:ext cx="457200" cy="0.0"/>
          </a:xfrm>
          <a:prstGeom prst="bentConnector3">
            <a:avLst/>
          </a:prstGeom>
          <a:ln w="19050">
            <a:solidFill>
              <a:srgbClr val="E3494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21208" y="4023360"/>
            <a:ext cx="813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710" b="1" i="0">
                <a:solidFill>
                  <a:srgbClr val="E34948"/>
                </a:solidFill>
                <a:latin typeface="Segoe UI"/>
              </a:rPr>
              <a:t>consequence /</a:t>
            </a:r>
          </a:p>
          <a:p>
            <a:pPr algn="l">
              <a:lnSpc>
                <a:spcPct val="90000"/>
              </a:lnSpc>
            </a:pPr>
            <a:r>
              <a:rPr sz="710" b="1" i="0">
                <a:solidFill>
                  <a:srgbClr val="E34948"/>
                </a:solidFill>
                <a:latin typeface="Segoe UI"/>
              </a:rPr>
              <a:t>co-occurring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184648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84648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2514E"/>
                </a:solidFill>
                <a:latin typeface="Segoe UI"/>
              </a:rPr>
              <a:t>8 dimensions  →  15 consolidated values  →  11 typed relations (precondition, consequence, constrains, co-occurring) mined from the same TnT-LLM-style pipeline.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769864"/>
            <a:ext cx="11183112" cy="347472"/>
          </a:xfrm>
          <a:prstGeom prst="roundRect">
            <a:avLst>
              <a:gd name="adj" fmla="val 50000"/>
            </a:avLst>
          </a:prstGeom>
          <a:solidFill>
            <a:srgbClr val="EFECFB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769864"/>
            <a:ext cx="108722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4A3AA7"/>
                </a:solidFill>
                <a:latin typeface="Segoe UI"/>
              </a:rPr>
              <a:t>✓  Grounded Theory Report generated — pharmacy-food_report_20260817_112807.md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98781"/>
                </a:solidFill>
                <a:latin typeface="Segoe UI"/>
              </a:rPr>
              <a:t>Source: examples/pharmacy-food (config, taxonomy JSON, grounded theory report) · use_case = ghost-kitchen healthy-food marketplace.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3AA7"/>
                </a:solidFill>
                <a:latin typeface="Segoe UI"/>
              </a:rPr>
              <a:t>DELVE · RESEARCH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Segoe UI"/>
              </a:rPr>
              <a:t>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Next steps for turning a mined design space into something that can be scored, sampled, and trusted — grounded in the repository’s own backlog (docs/NEW_IDEAS.md, docs/TAXONOMY_QUALITY_PLAN.md).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2239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02920" y="1783080"/>
            <a:ext cx="5422392" cy="548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911096"/>
            <a:ext cx="5129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78D6"/>
                </a:solidFill>
                <a:latin typeface="Segoe UI"/>
              </a:rPr>
              <a:t>SCORE THE TAXONOMY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203704"/>
            <a:ext cx="5129784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>LLM-as-judge quality scoreboard</a:t>
            </a:r>
          </a:p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>Turn the review prompt’s quality criteria — coverage, label accuracy, use-case relevance, orthogonality/axis-independence, value-set completeness — into standalone GEval-style metrics (deepeval) that run on demand, not just implicitly inside one LLM judgment.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42239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6217920" y="1783080"/>
            <a:ext cx="5422392" cy="548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911096"/>
            <a:ext cx="5129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AF7A"/>
                </a:solidFill>
                <a:latin typeface="Segoe UI"/>
              </a:rPr>
              <a:t>SAMPLE THE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203704"/>
            <a:ext cx="5129784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>Generate and vet candidate solutions</a:t>
            </a:r>
          </a:p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>Combine values across dimensions to sample points in the design space — candidate architectures, not just observed decisions — and check each combination for internal consistency, diversity, and coverage of the space, as Shaw’s design-space view invites.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87952"/>
            <a:ext cx="542239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502920" y="4187952"/>
            <a:ext cx="5422392" cy="548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4315968"/>
            <a:ext cx="5129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B6834"/>
                </a:solidFill>
                <a:latin typeface="Segoe UI"/>
              </a:rPr>
              <a:t>TEST FOR ROBUSTNESS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4608576"/>
            <a:ext cx="5129784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>Multi-seed consistency checks</a:t>
            </a:r>
          </a:p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>Re-run generation on the same corpus across seeds to see whether the mined dimensions and values are stable or an artifact of one run — a direct check on whether the taxonomy is enduring, not just plausible-looking once.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87952"/>
            <a:ext cx="542239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217920" y="4187952"/>
            <a:ext cx="5422392" cy="548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4315968"/>
            <a:ext cx="5129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3AA7"/>
                </a:solidFill>
                <a:latin typeface="Segoe UI"/>
              </a:rPr>
              <a:t>EVOLVE THE THEORY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608576"/>
            <a:ext cx="5129784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>Incremental taxonomies + feedback loops</a:t>
            </a:r>
          </a:p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2514E"/>
                </a:solidFill>
                <a:latin typeface="Segoe UI"/>
              </a:rPr>
              <a:t>Seed a run from an existing taxonomy instead of from scratch; add a train/test mode that labels new batches without changing dimensions; and let saturation/review checks feed back as automated critique through the existing UserFeedback slot.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98781"/>
                </a:solidFill>
                <a:latin typeface="Segoe UI"/>
              </a:rPr>
              <a:t>Sources: docs/NEW_IDEAS.md, docs/TAXONOMY_QUALITY_PLAN.md (Appendix A quality criteria, §6 value consolidation, §7 PCA visualization) · Shaw, IEEE Software, 2012.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